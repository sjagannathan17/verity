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714"/>
  </p:normalViewPr>
  <p:slideViewPr>
    <p:cSldViewPr snapToGrid="0" snapToObjects="1">
      <p:cViewPr varScale="1">
        <p:scale>
          <a:sx n="115" d="100"/>
          <a:sy n="115" d="100"/>
        </p:scale>
        <p:origin x="5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32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2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Verity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D9C7F0"/>
                </a:solidFill>
                <a:latin typeface="Calibri"/>
              </a:rPr>
              <a:t>Payment Integrity Reasoning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AE2F6"/>
                </a:solidFill>
                <a:latin typeface="Calibri"/>
              </a:rPr>
              <a:t>An agentic AI that reviews one medical claim and returns an auditable PAY / FLAG / DENY decision. The model reasons and decides; deterministic tools supply the facts so it never invents a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Srinidhi Jagannathan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9B8E6"/>
                </a:solidFill>
                <a:latin typeface="Calibri"/>
              </a:rPr>
              <a:t>MS Business Analytics, Santa Clara University  ·  Built for Cotiviti  ·  Topic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Payment-integrity review has to be defensible, not just accurate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607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Denials get appealed, so every decision needs a documented, cited rationale.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Regulators expect explainability; a black-box score is hard to defend.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Wrong denials cause provider abrasion and rework.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The real bottleneck is explainable adjudication at scale, not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83480"/>
            <a:ext cx="2468880" cy="777240"/>
          </a:xfrm>
          <a:prstGeom prst="roundRect">
            <a:avLst/>
          </a:prstGeom>
          <a:solidFill>
            <a:srgbClr val="F4F0FA"/>
          </a:solidFill>
          <a:ln w="15875">
            <a:solidFill>
              <a:srgbClr val="5A2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9320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A2D8C"/>
                </a:solidFill>
                <a:latin typeface="Calibri"/>
              </a:rPr>
              <a:t>Decision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55848" y="5230368"/>
            <a:ext cx="457200" cy="292608"/>
          </a:xfrm>
          <a:prstGeom prst="rightArrow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86200" y="4983480"/>
            <a:ext cx="2468880" cy="777240"/>
          </a:xfrm>
          <a:prstGeom prst="roundRect">
            <a:avLst/>
          </a:prstGeom>
          <a:solidFill>
            <a:srgbClr val="F4F0FA"/>
          </a:solidFill>
          <a:ln w="15875">
            <a:solidFill>
              <a:srgbClr val="5A2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509320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A2D8C"/>
                </a:solidFill>
                <a:latin typeface="Calibri"/>
              </a:rPr>
              <a:t>Appeal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64808" y="5230368"/>
            <a:ext cx="457200" cy="292608"/>
          </a:xfrm>
          <a:prstGeom prst="rightArrow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95160" y="4983480"/>
            <a:ext cx="2468880" cy="777240"/>
          </a:xfrm>
          <a:prstGeom prst="roundRect">
            <a:avLst/>
          </a:prstGeom>
          <a:solidFill>
            <a:srgbClr val="F4F0FA"/>
          </a:solidFill>
          <a:ln w="15875">
            <a:solidFill>
              <a:srgbClr val="5A2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509320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A2D8C"/>
                </a:solidFill>
                <a:latin typeface="Calibri"/>
              </a:rPr>
              <a:t>Must defend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TOPIC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Topic 2: Clinical Decision Making &amp; Pattern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64748B"/>
                </a:solidFill>
                <a:latin typeface="Calibri"/>
              </a:rPr>
              <a:t>Verity is the decision-making half for the Payment &amp; Operations side of TPO: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80360"/>
            <a:ext cx="3383280" cy="1828800"/>
          </a:xfrm>
          <a:prstGeom prst="roundRect">
            <a:avLst/>
          </a:prstGeom>
          <a:solidFill>
            <a:srgbClr val="F4F0F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A2D8C"/>
                </a:solidFill>
                <a:latin typeface="Calibri"/>
              </a:rPr>
              <a:t>Chain reasoning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6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step-by-step review a person can follow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880360"/>
            <a:ext cx="3383280" cy="1828800"/>
          </a:xfrm>
          <a:prstGeom prst="roundRect">
            <a:avLst/>
          </a:prstGeom>
          <a:solidFill>
            <a:srgbClr val="F4F0F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310896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A2D8C"/>
                </a:solidFill>
                <a:latin typeface="Calibri"/>
              </a:rPr>
              <a:t>Agentic generative AI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6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an orchestrator that calls tools and decides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880360"/>
            <a:ext cx="3383280" cy="1828800"/>
          </a:xfrm>
          <a:prstGeom prst="roundRect">
            <a:avLst/>
          </a:prstGeom>
          <a:solidFill>
            <a:srgbClr val="F4F0F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310896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A2D8C"/>
                </a:solidFill>
                <a:latin typeface="Calibri"/>
              </a:rPr>
              <a:t>Classification &amp; inference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6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each claim sorted into PAY / FLAG / DENY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The statistical half (classification, clustering, time-series anomaly detection) is the upstream detection layer. It surfaces candidates; Verity decides and defends them. I return to it in the recommendation.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HOW VERITY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The model reasons and decides. Deterministic tools supply the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51760"/>
            <a:ext cx="2148840" cy="1143000"/>
          </a:xfrm>
          <a:prstGeom prst="roundRect">
            <a:avLst/>
          </a:prstGeom>
          <a:solidFill>
            <a:srgbClr val="F4F0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Claim + note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structured lines and free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560320"/>
            <a:ext cx="2468880" cy="1325880"/>
          </a:xfrm>
          <a:prstGeom prst="roundRect">
            <a:avLst/>
          </a:prstGeom>
          <a:solidFill>
            <a:srgbClr val="5A2D8C"/>
          </a:solidFill>
          <a:ln w="19050">
            <a:solidFill>
              <a:srgbClr val="5A2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697480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LLM orchestrator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E0D3F2"/>
                </a:solidFill>
                <a:latin typeface="Calibri"/>
              </a:rPr>
              <a:t>Claude reasons, calls tools, decides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31720"/>
            <a:ext cx="265176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450592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A2D8C"/>
                </a:solidFill>
                <a:latin typeface="Calibri"/>
              </a:rPr>
              <a:t>Deterministic fact tools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code pairs, MUE limits, modifier validity, duplicates, coverage refs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return facts, never a verdict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2560320"/>
            <a:ext cx="219456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55480" y="2651760"/>
            <a:ext cx="2194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A34A"/>
                </a:solidFill>
                <a:latin typeface="Calibri"/>
              </a:rPr>
              <a:t>Decision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PAY / FLAG / DENY + cited rationale + remediation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62656" y="3063240"/>
            <a:ext cx="411480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5943600" y="3063240"/>
            <a:ext cx="411480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9089136" y="3063240"/>
            <a:ext cx="411480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41605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facts returned to the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00600"/>
            <a:ext cx="10927080" cy="1051560"/>
          </a:xfrm>
          <a:prstGeom prst="roundRect">
            <a:avLst/>
          </a:prstGeom>
          <a:solidFill>
            <a:srgbClr val="F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2D8C"/>
                </a:solidFill>
                <a:latin typeface="Calibri"/>
              </a:rPr>
              <a:t>Hybrid grounding:  four exact edits (bundling, frequency/MUE, modifier validity, duplicate) are settled deterministically from the facts; the model owns the two judgment calls that require reading the note: medical necessity and documentation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Stack: Next.js 16 / React 19 / TypeScript, Tailwind v4 + shadcn/ui, React Flow, Framer Motion, @anthropic-ai/sdk.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WHAT IT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Six concerns, two kinds of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5212080" cy="3794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Settled by the facts (exact edits)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Bundling, NCCI procedure-to-procedure pairs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Frequency / units against the MUE maximum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Modifier validity and required laterality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Duplicate: same member, code, and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440680" cy="3794760"/>
          </a:xfrm>
          <a:prstGeom prst="roundRect">
            <a:avLst/>
          </a:prstGeom>
          <a:solidFill>
            <a:srgbClr val="F4F0FA"/>
          </a:solidFill>
          <a:ln w="15875">
            <a:solidFill>
              <a:srgbClr val="5A2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A2D8C"/>
                </a:solidFill>
                <a:latin typeface="Calibri"/>
              </a:rPr>
              <a:t>Judged by the model (reads the note)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50292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Medical necessity: does the diagnosis and note support the procedure?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Documentation validation: does the note support the level billed? Catches upcoding and insufficient documentation.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074920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2D8C"/>
                </a:solidFill>
                <a:latin typeface="Calibri"/>
              </a:rPr>
              <a:t>Insufficient documentation pends for records (FLAG); a service clearly not rendered is a DENY. A deterministic rule cannot do this; it never reads the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THE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The capability that needs an LLM: it reads the note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5349240" cy="31089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8920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DC2626"/>
                </a:solidFill>
                <a:latin typeface="Calibri"/>
              </a:rPr>
              <a:t>Catches upcoding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A high-complexity office visit is billed, but the note documents only a quick, routine recheck.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The model flags it as upcoding: the level billed is not supported by the documentation.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No code pair or unit edit can see this; they never read the note.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49240" cy="3108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377440"/>
            <a:ext cx="48920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6A34A"/>
                </a:solidFill>
                <a:latin typeface="Calibri"/>
              </a:rPr>
              <a:t>Clears a justified repeat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Two same-day EKGs trip the MUE limit of one per day, so it looks like an overpayment.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Modifier 76 plus a note documenting a justified repeat clears it to PAY, avoiding a false denial.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Modifier 76 is a repeat indicator on the units edit, not an NCCI bundling bypass.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10927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5A2D8C"/>
                </a:solidFill>
                <a:latin typeface="Calibri"/>
              </a:rPr>
              <a:t>Reading the note in both directions, catching what rules miss and clearing what rules would wrongly deny, is the maturity that separates a copilot from a blunt auto-denier.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AUDITABILITY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Every decision defends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607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Shows its full reasoning chain, step by step.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Cites the specific policy and facts it applied.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Attaches an actionable remediation suggestion to each verdict.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Exports the complete, ordered audit trail as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709160"/>
            <a:ext cx="10927080" cy="868680"/>
          </a:xfrm>
          <a:prstGeom prst="roundRect">
            <a:avLst/>
          </a:prstGeom>
          <a:solidFill>
            <a:srgbClr val="F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A2D8C"/>
                </a:solidFill>
                <a:latin typeface="Calibri"/>
              </a:rPr>
              <a:t>In a regulated payment context, the audit trail is the product; it is what survives an appeal.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Confidence is model-assessed and indicative, a rough signal, not a calibrated probability.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HOW IT'S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Evaluate one claim against its labeled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607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Single-claim, like the Review tab: pick one labeled claim and run it live, one at a time, not the whole set at once.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Shows Expected vs. Agent verdict, a Match or Mismatch badge, the model confidence, and the six per-concern findings.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It checks one live verdict against a hand-labeled answer; a sanity check, not a generalization or accuracy claim.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A real accuracy measure needs a large, naturally distributed labeled set scored on precision and recall per disposition.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927080" cy="8229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97706"/>
                </a:solidFill>
                <a:latin typeface="Calibri"/>
              </a:rPr>
              <a:t>Because the agent reasons with an LLM, the same claim can vary between runs, so no single result is an accuracy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OPPORTUNITIES &amp;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Why the auditable, grounded design is the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5349240" cy="3566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8920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A34A"/>
                </a:solidFill>
                <a:latin typeface="Calibri"/>
              </a:rPr>
              <a:t>Opportunity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Faster, defensible adjudication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Documentation validation catches upcoding that rules miss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Remediation suggestions cut provider abrasion and rework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Audit-ready rationale for appeals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49240" cy="3566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377440"/>
            <a:ext cx="48920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DC2626"/>
                </a:solidFill>
                <a:latin typeface="Calibri"/>
              </a:rPr>
              <a:t>Threat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A model that decides can be confidently wrong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 Hallucinated facts, PHI exposure, and policy or model drift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600"/>
              </a:spcAft>
            </a:pPr>
            <a:r>
              <a:rPr sz="1350" b="0" i="1">
                <a:solidFill>
                  <a:srgbClr val="64748B"/>
                </a:solidFill>
                <a:latin typeface="Calibri"/>
              </a:rPr>
              <a:t>Mitigated: facts come from deterministic tools; exact edits are settled deterministically; audit trail plus human sign-off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STRATEGIC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Agent-assisted, human-in-the-loop, auditable adjudication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607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The agent decides and drafts the cited rationale and remediation.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A human reviewer confirms or overrides every FLAG and DENY.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The audit trail is the deliverable, defensible end to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72000"/>
            <a:ext cx="10927080" cy="1280160"/>
          </a:xfrm>
          <a:prstGeom prst="roundRect">
            <a:avLst/>
          </a:prstGeom>
          <a:solidFill>
            <a:srgbClr val="5A2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800600"/>
            <a:ext cx="10378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Not to replace reviewers, but to make reviewers faster and decisions defensible.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THE TWO-LAYER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Where Verity sits in Cotiviti's payment-integrity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3200400" cy="3200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3200400" cy="502920"/>
          </a:xfrm>
          <a:prstGeom prst="roundRect">
            <a:avLst/>
          </a:prstGeom>
          <a:solidFill>
            <a:srgbClr val="5A2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40864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LAYER 1 ·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Statistical detection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•   Classification / risk tiering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•   Clustering of provider cohorts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•   Time-series anomaly detection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Surfaces candidate claims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3703320"/>
            <a:ext cx="640080" cy="365760"/>
          </a:xfrm>
          <a:prstGeom prst="rightArrow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0" y="32918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flagged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977639" cy="3200400"/>
          </a:xfrm>
          <a:prstGeom prst="roundRect">
            <a:avLst/>
          </a:prstGeom>
          <a:solidFill>
            <a:srgbClr val="F4F0FA"/>
          </a:solidFill>
          <a:ln w="19050">
            <a:solidFill>
              <a:srgbClr val="5A2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00600" y="2286000"/>
            <a:ext cx="3977639" cy="502920"/>
          </a:xfrm>
          <a:prstGeom prst="round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2340864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LAYER 2 · ADJUDICATE &amp; DEFEND  (Verity)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80"/>
            <a:ext cx="35661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A2D8C"/>
                </a:solidFill>
                <a:latin typeface="Calibri"/>
              </a:rPr>
              <a:t>Agentic adjudication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•   Chain reasoning over the note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•   Fact tools + documentation validation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•   PAY / FLAG / DENY + cited rationale + remediation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•   Exportable audit trail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69680" y="3703320"/>
            <a:ext cx="640080" cy="365760"/>
          </a:xfrm>
          <a:prstGeom prst="rightArrow">
            <a:avLst/>
          </a:prstGeom>
          <a:solidFill>
            <a:srgbClr val="5A2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32918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verdict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286000"/>
            <a:ext cx="2148840" cy="3200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01200" y="228600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2340864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HUMAN SIGN-OFF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926080"/>
            <a:ext cx="1783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•   Approves denials and audits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Before any action is taken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Detection surfaces candidates; agentic adjudication decides and defends each one; a person signs off.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2D8C"/>
                </a:solidFill>
                <a:latin typeface="Calibri"/>
              </a:rPr>
              <a:t>FROM POC TO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E293B"/>
                </a:solidFill>
                <a:latin typeface="Calibri"/>
              </a:rPr>
              <a:t>What a production version adds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607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HIPAA / PHI handling, access control, and audit logging.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Real edit content: full NCCI / MUE files and LCD / NCD coverage policy, versioned and dated.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A human review queue with accept / override and a provider appeal workflow.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0" i="0">
                <a:solidFill>
                  <a:srgbClr val="1E293B"/>
                </a:solidFill>
                <a:latin typeface="Calibri"/>
              </a:rPr>
              <a:t>•   An evaluation pipeline and drift monitoring, because models and policies both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29200"/>
            <a:ext cx="10927080" cy="868680"/>
          </a:xfrm>
          <a:prstGeom prst="roundRect">
            <a:avLst/>
          </a:prstGeom>
          <a:solidFill>
            <a:srgbClr val="F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2D8C"/>
                </a:solidFill>
                <a:latin typeface="Calibri"/>
              </a:rPr>
              <a:t>This POC is deliberately scoped: illustrative code tables and synthetic claims, no auth, no database, no PHI.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Verity: Payment Integrity Reasoning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2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E8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model reasons and decides.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D9C7F0"/>
                </a:solidFill>
                <a:latin typeface="Calibri"/>
              </a:rPr>
              <a:t>Deterministic tools keep the facts honest, and every verdict leaves an audit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EAE2F6"/>
                </a:solidFill>
                <a:latin typeface="Calibri"/>
              </a:rPr>
              <a:t>Thank you.  Srinidhi Jagannathan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1286</Words>
  <Application>Microsoft Macintosh PowerPoint</Application>
  <PresentationFormat>Widescreen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Srinidhi Jagannathan</cp:lastModifiedBy>
  <cp:revision>2</cp:revision>
  <dcterms:created xsi:type="dcterms:W3CDTF">2013-01-27T09:14:16Z</dcterms:created>
  <dcterms:modified xsi:type="dcterms:W3CDTF">2026-07-01T16:55:47Z</dcterms:modified>
  <cp:category/>
</cp:coreProperties>
</file>